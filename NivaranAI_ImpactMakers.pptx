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pt_project/icons/shield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201168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MAKERS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9436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Nivaran AI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CivicFlow — Intelligent Civic Grievance Resolution Platform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 ·  Blockchain Audit Trail  ·  Bilingual Voice-First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806440"/>
            <a:ext cx="2743200" cy="566928"/>
          </a:xfrm>
          <a:prstGeom prst="roundRect">
            <a:avLst>
              <a:gd name="adj" fmla="val 19355"/>
            </a:avLst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806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Impact Makers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civic grievance portals fail citizens quietly: they rely on manual triaging, lack any proof-of-resolution, allow officers to close tickets without verification, and only respond to the citizens who complain loudest — leaving the rest invisible.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06040"/>
            <a:ext cx="658368" cy="658368"/>
          </a:xfrm>
          <a:prstGeom prst="ellipse">
            <a:avLst/>
          </a:prstGeom>
          <a:solidFill>
            <a:srgbClr val="B3475B"/>
          </a:solidFill>
          <a:ln/>
        </p:spPr>
      </p:sp>
      <p:pic>
        <p:nvPicPr>
          <p:cNvPr id="6" name="Image 0" descr="/root/ppt_project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241" y="2750881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Triage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9900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is read and routed by hand — no consistent priority, no SLA discipline.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E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606040"/>
            <a:ext cx="658368" cy="658368"/>
          </a:xfrm>
          <a:prstGeom prst="ellipse">
            <a:avLst/>
          </a:prstGeom>
          <a:solidFill>
            <a:srgbClr val="B3475B"/>
          </a:solidFill>
          <a:ln/>
        </p:spPr>
      </p:sp>
      <p:pic>
        <p:nvPicPr>
          <p:cNvPr id="11" name="Image 1" descr="/root/ppt_project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081" y="275088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587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“Ghost Closures”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9900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mark tickets resolved with zero proof; citizens have no way to contest 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572000"/>
            <a:ext cx="658368" cy="658368"/>
          </a:xfrm>
          <a:prstGeom prst="ellipse">
            <a:avLst/>
          </a:prstGeom>
          <a:solidFill>
            <a:srgbClr val="B3475B"/>
          </a:solidFill>
          <a:ln/>
        </p:spPr>
      </p:sp>
      <p:pic>
        <p:nvPicPr>
          <p:cNvPr id="16" name="Image 2" descr="/root/ppt_project/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241" y="471684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Editable, Untrusted Records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37360" y="4956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database access can silently alter or delete a complaint's history.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2976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EEF3FE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572000"/>
            <a:ext cx="658368" cy="658368"/>
          </a:xfrm>
          <a:prstGeom prst="ellipse">
            <a:avLst/>
          </a:prstGeom>
          <a:solidFill>
            <a:srgbClr val="B3475B"/>
          </a:solidFill>
          <a:ln/>
        </p:spPr>
      </p:sp>
      <p:pic>
        <p:nvPicPr>
          <p:cNvPr id="21" name="Image 3" descr="/root/ppt_project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081" y="4716841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553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Citizens Ignored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49560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 with real problems but low complaint volume are read as “no issue”, not distrust.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AI-powered, blockchain-verified civic grievance platform that classifies, routes, and holds every complaint accountable — automatically, in the citizen's own language.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499616" y="2514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root/ppt_project/icons/brai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667" y="269565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5661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Intelligence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Auto-classifies, scores harm, and files real tickets — not a chatbot that just talks.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261104" y="2514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root/ppt_project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55" y="269565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35661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Trust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0168" y="42976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hash-anchored to IPFS + Avalanche — tamper-evident, publicly verifiable.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7022592" y="2514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root/ppt_project/icons/sca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643" y="269565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5661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Accountability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91656" y="42976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 stay “unverified” until the citizen confirms — no more ghost closures.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24544" y="214884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9784080" y="251460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/root/ppt_project/icons/languag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131" y="269565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356616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Bilingual, Voice-First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53144" y="4297680"/>
            <a:ext cx="20848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Hindi + English understanding, with real voice dictation built in.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root/ppt_project/icons/m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" y="2680106"/>
            <a:ext cx="537667" cy="5376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9304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784543" y="2866644"/>
            <a:ext cx="655442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Reports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 Hindi or English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24328" y="246888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0" name="Image 1" descr="/root/ppt_project/icons/bra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554" y="2680106"/>
            <a:ext cx="537667" cy="5376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73552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68791" y="2866644"/>
            <a:ext cx="655442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3" name="Text 9"/>
          <p:cNvSpPr/>
          <p:nvPr/>
        </p:nvSpPr>
        <p:spPr>
          <a:xfrm>
            <a:off x="2121408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Verifies &amp; Classifies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121408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check + category + harm score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08576" y="246888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root/ppt_project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802" y="2680106"/>
            <a:ext cx="537667" cy="5376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53039" y="2866644"/>
            <a:ext cx="655442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9" name="Text 14"/>
          <p:cNvSpPr/>
          <p:nvPr/>
        </p:nvSpPr>
        <p:spPr>
          <a:xfrm>
            <a:off x="4105656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Routed with SLA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105656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department, right officer, deadline set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592824" y="246888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2" name="Image 3" descr="/root/ppt_project/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050" y="2680106"/>
            <a:ext cx="537667" cy="5376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42048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737287" y="2866644"/>
            <a:ext cx="655442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25" name="Text 19"/>
          <p:cNvSpPr/>
          <p:nvPr/>
        </p:nvSpPr>
        <p:spPr>
          <a:xfrm>
            <a:off x="6089904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Resolves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089904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required to close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8577072" y="246888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root/ppt_project/icons/sca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298" y="2680106"/>
            <a:ext cx="537667" cy="5376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26296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9721535" y="2866644"/>
            <a:ext cx="655442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31" name="Text 24"/>
          <p:cNvSpPr/>
          <p:nvPr/>
        </p:nvSpPr>
        <p:spPr>
          <a:xfrm>
            <a:off x="8074152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Confirms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8074152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verify or reopen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10561320" y="246888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4" name="Image 5" descr="/root/ppt_project/icons/lin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546" y="2680106"/>
            <a:ext cx="537667" cy="537667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1210544" y="23225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0058400" y="35935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 Forever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10058400" y="40507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on-chain audit entry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EEF3FE"/>
          </a:solidFill>
          <a:ln/>
        </p:spPr>
      </p:sp>
      <p:sp>
        <p:nvSpPr>
          <p:cNvPr id="39" name="Text 31"/>
          <p:cNvSpPr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never just claims to have acted — a grounding guard forces a real tool call every time, with a zero-cost deterministic engine as the always-on fallback.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Portals,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02152" cy="4846320"/>
          </a:xfrm>
          <a:prstGeom prst="roundRect">
            <a:avLst>
              <a:gd name="adj" fmla="val 2611"/>
            </a:avLst>
          </a:prstGeom>
          <a:solidFill>
            <a:srgbClr val="EEF3F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root/ppt_project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84251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Citizen Portal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Voice-to-ticket filing (hi-IN / en-IN)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self-categorization as you type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false “resolved” in one tap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02152" cy="4846320"/>
          </a:xfrm>
          <a:prstGeom prst="roundRect">
            <a:avLst>
              <a:gd name="adj" fmla="val 2611"/>
            </a:avLst>
          </a:prstGeom>
          <a:solidFill>
            <a:srgbClr val="EEF3FE"/>
          </a:solidFill>
          <a:ln/>
        </p:spPr>
      </p:sp>
      <p:sp>
        <p:nvSpPr>
          <p:cNvPr id="9" name="Shape 6"/>
          <p:cNvSpPr/>
          <p:nvPr/>
        </p:nvSpPr>
        <p:spPr>
          <a:xfrm>
            <a:off x="4599432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root/ppt_project/icons/briefc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425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432" y="25146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Kanban Board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99432" y="310896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countdown per ticket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required before closing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Reopened tickets auto-escalate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10144" y="1417320"/>
            <a:ext cx="3502152" cy="4846320"/>
          </a:xfrm>
          <a:prstGeom prst="roundRect">
            <a:avLst>
              <a:gd name="adj" fmla="val 2611"/>
            </a:avLst>
          </a:prstGeom>
          <a:solidFill>
            <a:srgbClr val="EEF3FE"/>
          </a:solidFill>
          <a:ln/>
        </p:spPr>
      </p:sp>
      <p:sp>
        <p:nvSpPr>
          <p:cNvPr id="14" name="Shape 10"/>
          <p:cNvSpPr/>
          <p:nvPr/>
        </p:nvSpPr>
        <p:spPr>
          <a:xfrm>
            <a:off x="8284464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root/ppt_project/icons/buil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8425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84464" y="251460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Commissioner “God Mode”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84464" y="3108960"/>
            <a:ext cx="29535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GIS incident cluster map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Detector flags underserved wards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integrity leaderboard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Intelligence Layer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 — every decision can be traced, not a black box.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root/ppt_project/icons/langu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" y="1999244"/>
            <a:ext cx="317480" cy="317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Bilingual NLP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8470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Hindi, Hinglish &amp; English understanding — not machine translation.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/root/ppt_project/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2895356"/>
            <a:ext cx="317480" cy="317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15-Category Auto-Classification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27432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routing to the correct department, instantly.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666744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2" descr="/root/ppt_project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3791468"/>
            <a:ext cx="317480" cy="317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39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Harm Scoring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363931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8-stage severity algorithm — every score is traceable, not a black box.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7" name="Image 3" descr="/root/ppt_project/icons/fingerprin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4687580"/>
            <a:ext cx="317480" cy="317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5354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Plausibility Gate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46320" y="453542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gibberish, spam and placeholder text before it reaches an officer.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45896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4" descr="/root/ppt_project/icons/robo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4" y="5583692"/>
            <a:ext cx="317480" cy="317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543153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Zero-Cost, Auto-Upgrading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46320" y="543153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with no API key; upgrades instantly if a Gemini/Groq key is added.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Trust Layer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complaint can't be silently edited or deleted — not even by an admin with full database access. Here's how it stays provable, forever: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root/ppt_projec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2557577"/>
            <a:ext cx="691286" cy="6912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71700" y="2802636"/>
            <a:ext cx="1386840" cy="201168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/>
          <p:nvPr/>
        </p:nvSpPr>
        <p:spPr>
          <a:xfrm>
            <a:off x="13716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Filed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" y="4142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content captured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855720" y="228600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root/ppt_project/icons/fingerpr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97" y="2557577"/>
            <a:ext cx="691286" cy="69128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87340" y="2802636"/>
            <a:ext cx="1386840" cy="201168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12" name="Text 8"/>
          <p:cNvSpPr/>
          <p:nvPr/>
        </p:nvSpPr>
        <p:spPr>
          <a:xfrm>
            <a:off x="335280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 to IPFS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352800" y="4142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unique content CID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71360" y="228600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root/ppt_project/icons/lin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937" y="2557577"/>
            <a:ext cx="691286" cy="69128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02980" y="2802636"/>
            <a:ext cx="1386840" cy="201168"/>
          </a:xfrm>
          <a:prstGeom prst="chevron">
            <a:avLst/>
          </a:prstGeom>
          <a:solidFill>
            <a:srgbClr val="F5A623"/>
          </a:solidFill>
          <a:ln/>
        </p:spPr>
      </p:sp>
      <p:sp>
        <p:nvSpPr>
          <p:cNvPr id="17" name="Text 12"/>
          <p:cNvSpPr/>
          <p:nvPr/>
        </p:nvSpPr>
        <p:spPr>
          <a:xfrm>
            <a:off x="656844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 On-Chain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68440" y="4142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written to Avalanche Fuji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0287000" y="228600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root/ppt_project/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8577" y="2557577"/>
            <a:ext cx="691286" cy="6912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84080" y="3703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Publicly Verifiable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784080" y="4142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checks it on Snowtrace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3FE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489204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department deletes the database record,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CID lives permanently inside the on-chain transaction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anyone with the ticket ID can pull the original content straight back from IPFS. No permission needed, no trust in the server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We're Different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Portals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309360" y="914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Nivaran AI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by staff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3FE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4173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auto-classifies &amp; scores in real time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self-marks “resolved”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3F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must verify before it counts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editable, no trace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3375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3FE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blockchain audit trail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97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forms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2976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3F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97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Bilingual, voice-first (Hindi + English)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BEAE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57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wards look “issue-free”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5257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EF3FE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5257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Detector flags likely underreporting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EEF3FE"/>
          </a:solidFill>
          <a:ln/>
        </p:spPr>
      </p:sp>
      <p:sp>
        <p:nvSpPr>
          <p:cNvPr id="4" name="Shape 2"/>
          <p:cNvSpPr/>
          <p:nvPr/>
        </p:nvSpPr>
        <p:spPr>
          <a:xfrm>
            <a:off x="1545336" y="18470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root/ppt_project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70" y="2008022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614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Framer Motion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(GIS)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1568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EEF3FE"/>
          </a:solidFill>
          <a:ln/>
        </p:spPr>
      </p:sp>
      <p:sp>
        <p:nvSpPr>
          <p:cNvPr id="9" name="Shape 6"/>
          <p:cNvSpPr/>
          <p:nvPr/>
        </p:nvSpPr>
        <p:spPr>
          <a:xfrm>
            <a:off x="4306824" y="18470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root/ppt_project/icons/build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58" y="200802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38728" y="27614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30168" y="32461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Rate Limiting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63056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EEF3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068312" y="18470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root/ppt_project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246" y="200802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27614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91656" y="32461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Groq (pluggable)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zero-cost fallback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(hi-IN)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24544" y="1554480"/>
            <a:ext cx="2542032" cy="4206240"/>
          </a:xfrm>
          <a:prstGeom prst="roundRect">
            <a:avLst>
              <a:gd name="adj" fmla="val 3597"/>
            </a:avLst>
          </a:prstGeom>
          <a:solidFill>
            <a:srgbClr val="EEF3FE"/>
          </a:solidFill>
          <a:ln/>
        </p:spPr>
      </p:sp>
      <p:sp>
        <p:nvSpPr>
          <p:cNvPr id="19" name="Shape 14"/>
          <p:cNvSpPr/>
          <p:nvPr/>
        </p:nvSpPr>
        <p:spPr>
          <a:xfrm>
            <a:off x="9829800" y="184708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root/ppt_project/icon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34" y="2008022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61704" y="276148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Layer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53144" y="3246120"/>
            <a:ext cx="20848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(via Pinata)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Fuji C-Chain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 ledger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architecture, near-zero AI cost, no per-user infrastructure penalty.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1591056" y="257860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root/ppt_project/icons/robo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874" y="271942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06908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Engine Cost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(rule-based, no GPU)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22860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41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352544" y="257860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root/ppt_project/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362" y="271942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3375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538728" y="406908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Categories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22860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41A47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4032" y="257860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root/ppt_project/icons/languag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850" y="271942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3375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6300216" y="406908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Voice-First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(Hindi + English)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24544" y="228600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141A47"/>
          </a:solidFill>
          <a:ln/>
        </p:spPr>
      </p:sp>
      <p:sp>
        <p:nvSpPr>
          <p:cNvPr id="20" name="Shape 15"/>
          <p:cNvSpPr/>
          <p:nvPr/>
        </p:nvSpPr>
        <p:spPr>
          <a:xfrm>
            <a:off x="9875520" y="2578608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3" descr="/root/ppt_project/icon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6338" y="271942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1704" y="333756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23" name="Text 17"/>
          <p:cNvSpPr/>
          <p:nvPr/>
        </p:nvSpPr>
        <p:spPr>
          <a:xfrm>
            <a:off x="9061704" y="406908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51560" y="228600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4" name="Image 0" descr="/root/ppt_project/icons/mi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670" y="2477110"/>
            <a:ext cx="486461" cy="4864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35581" y="2638044"/>
            <a:ext cx="1004926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/ SMS / IVR Intake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9593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citizens without smartphones or 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55848" y="22860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root/ppt_project/icons/langu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958" y="2477110"/>
            <a:ext cx="486461" cy="48646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9869" y="2638044"/>
            <a:ext cx="1004926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1" name="Text 7"/>
          <p:cNvSpPr/>
          <p:nvPr/>
        </p:nvSpPr>
        <p:spPr>
          <a:xfrm>
            <a:off x="2761488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Regional Languages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61488" y="39593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Hindi &amp; English — Marathi, Tamil, Bengali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660136" y="228600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2" descr="/root/ppt_project/icons/ch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246" y="2477110"/>
            <a:ext cx="486461" cy="48646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744157" y="2638044"/>
            <a:ext cx="1004926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6" name="Text 11"/>
          <p:cNvSpPr/>
          <p:nvPr/>
        </p:nvSpPr>
        <p:spPr>
          <a:xfrm>
            <a:off x="5065776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Infra Analytics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65776" y="39593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likely failures before they're even reported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964424" y="2286000"/>
            <a:ext cx="868680" cy="8686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root/ppt_project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534" y="2477110"/>
            <a:ext cx="486461" cy="48646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48445" y="2638044"/>
            <a:ext cx="1004926" cy="164592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21" name="Text 15"/>
          <p:cNvSpPr/>
          <p:nvPr/>
        </p:nvSpPr>
        <p:spPr>
          <a:xfrm>
            <a:off x="7370064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AI Copilot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70064" y="39593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responses, smart workload balancing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10268712" y="2286000"/>
            <a:ext cx="868680" cy="8686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4" name="Image 4" descr="/root/ppt_project/icons/building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822" y="2477110"/>
            <a:ext cx="486461" cy="48646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74352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Govt. Platform Integration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9674352" y="39593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CPGRAMS as an intelligence layer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ppt_project/icons/shield_whit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914400" y="274320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Impact Makers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40080" y="246888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141A47"/>
          </a:solidFill>
          <a:ln/>
        </p:spPr>
      </p:sp>
      <p:sp>
        <p:nvSpPr>
          <p:cNvPr id="6" name="Shape 3"/>
          <p:cNvSpPr/>
          <p:nvPr/>
        </p:nvSpPr>
        <p:spPr>
          <a:xfrm>
            <a:off x="1591056" y="2724912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1" descr="/root/ppt_project/icons/us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74" y="2865730"/>
            <a:ext cx="358445" cy="358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35204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Kunal Gupta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401568" y="246888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141A47"/>
          </a:solidFill>
          <a:ln/>
        </p:spPr>
      </p:sp>
      <p:sp>
        <p:nvSpPr>
          <p:cNvPr id="10" name="Shape 6"/>
          <p:cNvSpPr/>
          <p:nvPr/>
        </p:nvSpPr>
        <p:spPr>
          <a:xfrm>
            <a:off x="4352544" y="2724912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2" descr="/root/ppt_project/icons/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362" y="2865730"/>
            <a:ext cx="358445" cy="3584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38728" y="35204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Parth Pahare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63056" y="246888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141A47"/>
          </a:solidFill>
          <a:ln/>
        </p:spPr>
      </p:sp>
      <p:sp>
        <p:nvSpPr>
          <p:cNvPr id="14" name="Shape 9"/>
          <p:cNvSpPr/>
          <p:nvPr/>
        </p:nvSpPr>
        <p:spPr>
          <a:xfrm>
            <a:off x="7114032" y="2724912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Image 3" descr="/root/ppt_project/icons/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850" y="2865730"/>
            <a:ext cx="358445" cy="3584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00216" y="35204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Astha Jain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924544" y="2468880"/>
            <a:ext cx="2542032" cy="1737360"/>
          </a:xfrm>
          <a:prstGeom prst="roundRect">
            <a:avLst>
              <a:gd name="adj" fmla="val 5263"/>
            </a:avLst>
          </a:prstGeom>
          <a:solidFill>
            <a:srgbClr val="141A47"/>
          </a:solidFill>
          <a:ln/>
        </p:spPr>
      </p:sp>
      <p:sp>
        <p:nvSpPr>
          <p:cNvPr id="18" name="Shape 12"/>
          <p:cNvSpPr/>
          <p:nvPr/>
        </p:nvSpPr>
        <p:spPr>
          <a:xfrm>
            <a:off x="9875520" y="2724912"/>
            <a:ext cx="640080" cy="64008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9" name="Image 4" descr="/root/ppt_project/icons/users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6338" y="2865730"/>
            <a:ext cx="358445" cy="35844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61704" y="35204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Vishvjeet Rathore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Nivaran AI — a complaint that can't be ignored, and can't be erased.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Impact Makers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Impact Makers</dc:creator>
  <cp:lastModifiedBy>Impact Makers</cp:lastModifiedBy>
  <cp:revision>1</cp:revision>
  <dcterms:created xsi:type="dcterms:W3CDTF">2026-08-23T08:01:06Z</dcterms:created>
  <dcterms:modified xsi:type="dcterms:W3CDTF">2026-08-23T08:01:06Z</dcterms:modified>
</cp:coreProperties>
</file>